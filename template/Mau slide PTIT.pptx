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4" r:id="rId2"/>
  </p:sldMasterIdLst>
  <p:notesMasterIdLst>
    <p:notesMasterId r:id="rId6"/>
  </p:notesMasterIdLst>
  <p:sldIdLst>
    <p:sldId id="276" r:id="rId3"/>
    <p:sldId id="306" r:id="rId4"/>
    <p:sldId id="286" r:id="rId5"/>
  </p:sldIdLst>
  <p:sldSz cx="12192000" cy="6858000"/>
  <p:notesSz cx="6858000" cy="9144000"/>
  <p:embeddedFontLst>
    <p:embeddedFont>
      <p:font typeface="Montserrat" panose="00000500000000000000" pitchFamily="2" charset="0"/>
      <p:regular r:id="rId7"/>
      <p:bold r:id="rId8"/>
      <p:italic r:id="rId9"/>
      <p:boldItalic r:id="rId10"/>
    </p:embeddedFont>
    <p:embeddedFont>
      <p:font typeface="Montserrat Black" panose="020F0502020204030204" pitchFamily="2" charset="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025"/>
    <a:srgbClr val="33CC33"/>
    <a:srgbClr val="009900"/>
    <a:srgbClr val="3399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707" autoAdjust="0"/>
  </p:normalViewPr>
  <p:slideViewPr>
    <p:cSldViewPr snapToGrid="0">
      <p:cViewPr varScale="1">
        <p:scale>
          <a:sx n="102" d="100"/>
          <a:sy n="102" d="100"/>
        </p:scale>
        <p:origin x="151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CF054-6379-4867-A3D8-742D726B596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4208E-E87E-42A8-9817-0F85E86B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3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ADDA-C590-9000-3AF9-49C784F8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CF89E-1193-E377-C1FA-CBE724393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6765C-70BA-8DBC-DDE6-793BD57BA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CA42A-A359-8754-D92E-57968DD8A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D4208E-E87E-42A8-9817-0F85E86B24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98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4063" y="2035538"/>
            <a:ext cx="7573162" cy="1371599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rgbClr val="C00000"/>
                </a:solidFill>
                <a:latin typeface="Montserrat Black" panose="00000A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94063" y="1411721"/>
            <a:ext cx="7308273" cy="41780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E113E7-2D3B-3E98-63FF-01937BA325AF}"/>
              </a:ext>
            </a:extLst>
          </p:cNvPr>
          <p:cNvGrpSpPr/>
          <p:nvPr userDrawn="1"/>
        </p:nvGrpSpPr>
        <p:grpSpPr>
          <a:xfrm>
            <a:off x="146236" y="126065"/>
            <a:ext cx="1236911" cy="652027"/>
            <a:chOff x="1319183" y="2905809"/>
            <a:chExt cx="3753380" cy="19785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72AF624-D91D-258D-5029-3E74502458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34" t="13609" r="15991" b="11112"/>
            <a:stretch/>
          </p:blipFill>
          <p:spPr>
            <a:xfrm>
              <a:off x="3351674" y="2905809"/>
              <a:ext cx="1720889" cy="1978564"/>
            </a:xfrm>
            <a:prstGeom prst="rect">
              <a:avLst/>
            </a:prstGeom>
          </p:spPr>
        </p:pic>
        <p:pic>
          <p:nvPicPr>
            <p:cNvPr id="7" name="Picture 2" descr="Chức năng và cơ cấu tổ chức mới của Bộ Khoa học và Công">
              <a:extLst>
                <a:ext uri="{FF2B5EF4-FFF2-40B4-BE49-F238E27FC236}">
                  <a16:creationId xmlns:a16="http://schemas.microsoft.com/office/drawing/2014/main" id="{B7AFF62B-9AAC-9119-62B7-F2724B22B6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9183" y="2905809"/>
              <a:ext cx="2032491" cy="1912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3434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92" y="168998"/>
            <a:ext cx="7329054" cy="766184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C00000"/>
                </a:solidFill>
                <a:latin typeface="Montserrat Black" panose="00000A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791" y="1129434"/>
            <a:ext cx="11714017" cy="4351338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56252" y="6348847"/>
            <a:ext cx="2743200" cy="365125"/>
          </a:xfrm>
        </p:spPr>
        <p:txBody>
          <a:bodyPr/>
          <a:lstStyle/>
          <a:p>
            <a:fld id="{9C567215-7C29-4132-833E-BA43A394FA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303128"/>
            <a:ext cx="11353800" cy="45719"/>
          </a:xfrm>
          <a:prstGeom prst="rect">
            <a:avLst/>
          </a:prstGeom>
          <a:solidFill>
            <a:srgbClr val="BB20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00064" y="6303128"/>
            <a:ext cx="453735" cy="418347"/>
          </a:xfrm>
          <a:solidFill>
            <a:srgbClr val="BB2025"/>
          </a:solidFill>
          <a:ln>
            <a:noFill/>
          </a:ln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853E3903-0777-4E83-A7C8-92B121E4D2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330039" y="794504"/>
            <a:ext cx="3036202" cy="100174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7666B99-B63A-0B99-7F0F-EF15812AAF2E}"/>
              </a:ext>
            </a:extLst>
          </p:cNvPr>
          <p:cNvGrpSpPr/>
          <p:nvPr userDrawn="1"/>
        </p:nvGrpSpPr>
        <p:grpSpPr>
          <a:xfrm>
            <a:off x="146237" y="6421722"/>
            <a:ext cx="739765" cy="389961"/>
            <a:chOff x="1319183" y="2905809"/>
            <a:chExt cx="3753380" cy="19785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F34145-DE6F-BA7D-B60E-F535B0E065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34" t="13609" r="15991" b="11112"/>
            <a:stretch/>
          </p:blipFill>
          <p:spPr>
            <a:xfrm>
              <a:off x="3351674" y="2905809"/>
              <a:ext cx="1720889" cy="1978564"/>
            </a:xfrm>
            <a:prstGeom prst="rect">
              <a:avLst/>
            </a:prstGeom>
          </p:spPr>
        </p:pic>
        <p:pic>
          <p:nvPicPr>
            <p:cNvPr id="1026" name="Picture 2" descr="Chức năng và cơ cấu tổ chức mới của Bộ Khoa học và Công">
              <a:extLst>
                <a:ext uri="{FF2B5EF4-FFF2-40B4-BE49-F238E27FC236}">
                  <a16:creationId xmlns:a16="http://schemas.microsoft.com/office/drawing/2014/main" id="{8B9619AA-6128-24C4-C056-EDADF704266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9183" y="2905809"/>
              <a:ext cx="2032491" cy="1912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816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7215-7C29-4132-833E-BA43A394FA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303128"/>
            <a:ext cx="11353800" cy="45719"/>
          </a:xfrm>
          <a:prstGeom prst="rect">
            <a:avLst/>
          </a:prstGeom>
          <a:solidFill>
            <a:srgbClr val="BB20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67" y="6413498"/>
            <a:ext cx="800283" cy="3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7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417182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rgbClr val="C00000"/>
                </a:solidFill>
                <a:latin typeface="Montserrat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413807"/>
            <a:ext cx="10515600" cy="57036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7215-7C29-4132-833E-BA43A394FA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3903-0777-4E83-A7C8-92B121E4D22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900064" y="6303128"/>
            <a:ext cx="453735" cy="418347"/>
          </a:xfrm>
          <a:prstGeom prst="rect">
            <a:avLst/>
          </a:prstGeom>
          <a:solidFill>
            <a:srgbClr val="BB2025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3E3903-0777-4E83-A7C8-92B121E4D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303128"/>
            <a:ext cx="11353800" cy="45719"/>
          </a:xfrm>
          <a:prstGeom prst="rect">
            <a:avLst/>
          </a:prstGeom>
          <a:solidFill>
            <a:srgbClr val="BB20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67" y="6413498"/>
            <a:ext cx="800283" cy="38743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67" y="126255"/>
            <a:ext cx="933633" cy="45199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2755"/>
            <a:ext cx="12466864" cy="203281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A2F55D4-8A76-28C8-4099-980A9740B62B}"/>
              </a:ext>
            </a:extLst>
          </p:cNvPr>
          <p:cNvGrpSpPr/>
          <p:nvPr userDrawn="1"/>
        </p:nvGrpSpPr>
        <p:grpSpPr>
          <a:xfrm>
            <a:off x="146236" y="126065"/>
            <a:ext cx="1236911" cy="652027"/>
            <a:chOff x="1319183" y="2905809"/>
            <a:chExt cx="3753380" cy="19785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88F699-7B36-73B6-69F1-C234BB328C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34" t="13609" r="15991" b="11112"/>
            <a:stretch/>
          </p:blipFill>
          <p:spPr>
            <a:xfrm>
              <a:off x="3351674" y="2905809"/>
              <a:ext cx="1720889" cy="1978564"/>
            </a:xfrm>
            <a:prstGeom prst="rect">
              <a:avLst/>
            </a:prstGeom>
          </p:spPr>
        </p:pic>
        <p:pic>
          <p:nvPicPr>
            <p:cNvPr id="14" name="Picture 2" descr="Chức năng và cơ cấu tổ chức mới của Bộ Khoa học và Công">
              <a:extLst>
                <a:ext uri="{FF2B5EF4-FFF2-40B4-BE49-F238E27FC236}">
                  <a16:creationId xmlns:a16="http://schemas.microsoft.com/office/drawing/2014/main" id="{9C7A0374-4EFF-C03A-D961-F55320BE54B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9183" y="2905809"/>
              <a:ext cx="2032491" cy="1912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409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>
            <a:spLocks noGrp="1"/>
          </p:cNvSpPr>
          <p:nvPr>
            <p:ph type="pic" idx="2"/>
          </p:nvPr>
        </p:nvSpPr>
        <p:spPr>
          <a:xfrm>
            <a:off x="7891576" y="0"/>
            <a:ext cx="4101639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3302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67215-7C29-4132-833E-BA43A394FAD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E3903-0777-4E83-A7C8-92B121E4D22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900064" y="6303128"/>
            <a:ext cx="453735" cy="418347"/>
          </a:xfrm>
          <a:prstGeom prst="rect">
            <a:avLst/>
          </a:prstGeom>
          <a:solidFill>
            <a:srgbClr val="BB2025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3E3903-0777-4E83-A7C8-92B121E4D2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7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1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Montserrat Black" panose="00000A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itchFamily="2" charset="0"/>
          <a:ea typeface="Roboto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itchFamily="2" charset="0"/>
          <a:ea typeface="Roboto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itchFamily="2" charset="0"/>
          <a:ea typeface="Roboto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itchFamily="2" charset="0"/>
          <a:ea typeface="Roboto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itchFamily="2" charset="0"/>
          <a:ea typeface="Roboto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64589-E7C8-41AC-A6DC-2E49CAB58FB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A8543-C305-48B8-987F-76CB6D84F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183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6038" y="1117584"/>
            <a:ext cx="10660213" cy="13732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 kern="100">
                <a:solidFill>
                  <a:srgbClr val="C00000"/>
                </a:solidFill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ĐỀ CƯƠNG ĐỀ </a:t>
            </a:r>
            <a:r>
              <a:rPr lang="en-US" sz="2800" kern="100" dirty="0">
                <a:solidFill>
                  <a:srgbClr val="C00000"/>
                </a:solidFill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ÁN TỐT NGHIỆP THẠC SĨ</a:t>
            </a:r>
            <a:endParaRPr lang="en-US" sz="3200" kern="100" dirty="0">
              <a:solidFill>
                <a:srgbClr val="C00000"/>
              </a:solidFill>
              <a:latin typeface="Montserrat Black" panose="00000A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228599" y="5416062"/>
            <a:ext cx="5679832" cy="108145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/>
              <a:t>HỌC VIÊN: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GIẢNG VIÊN HƯỚNG DẪN</a:t>
            </a:r>
            <a:r>
              <a:rPr lang="en-US" sz="1600"/>
              <a:t>: TS. </a:t>
            </a:r>
            <a:endParaRPr lang="en-US" sz="1600" dirty="0"/>
          </a:p>
          <a:p>
            <a:endParaRPr lang="en-US" sz="1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19F529-5DE5-79A2-5C1C-DB2E03861B06}"/>
              </a:ext>
            </a:extLst>
          </p:cNvPr>
          <p:cNvSpPr txBox="1"/>
          <p:nvPr/>
        </p:nvSpPr>
        <p:spPr>
          <a:xfrm>
            <a:off x="906039" y="1969031"/>
            <a:ext cx="8662506" cy="661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 kern="100" dirty="0" err="1">
                <a:solidFill>
                  <a:schemeClr val="tx1"/>
                </a:solidFill>
                <a:effectLst/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Tên</a:t>
            </a:r>
            <a:r>
              <a:rPr lang="en-US" sz="2800" kern="100" dirty="0">
                <a:solidFill>
                  <a:schemeClr val="tx1"/>
                </a:solidFill>
                <a:effectLst/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solidFill>
                  <a:schemeClr val="tx1"/>
                </a:solidFill>
                <a:effectLst/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đề</a:t>
            </a:r>
            <a:r>
              <a:rPr lang="en-US" sz="2800" kern="100" dirty="0">
                <a:solidFill>
                  <a:schemeClr val="tx1"/>
                </a:solidFill>
                <a:effectLst/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solidFill>
                  <a:schemeClr val="tx1"/>
                </a:solidFill>
                <a:effectLst/>
                <a:latin typeface="Montserrat Black" panose="00000A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án</a:t>
            </a:r>
            <a:endParaRPr lang="en-US" sz="2800" kern="100" dirty="0">
              <a:solidFill>
                <a:schemeClr val="tx1"/>
              </a:solidFill>
              <a:effectLst/>
              <a:latin typeface="Montserrat Black" panose="00000A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629C2-8F05-46B0-853B-F096B5B3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" y="0"/>
            <a:ext cx="748594" cy="86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1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A1CE-3D38-9B6F-CC03-0BA9C877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55C3-B8D5-C692-EF11-206F75987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75" y="835118"/>
            <a:ext cx="11123024" cy="554902"/>
          </a:xfrm>
        </p:spPr>
        <p:txBody>
          <a:bodyPr>
            <a:normAutofit/>
          </a:bodyPr>
          <a:lstStyle/>
          <a:p>
            <a:r>
              <a:rPr lang="vi-VN" dirty="0"/>
              <a:t>Nội dung</a:t>
            </a:r>
            <a:endParaRPr lang="en-US" sz="2800" dirty="0">
              <a:latin typeface="Montserrat Black" panose="00000A00000000000000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04B9A6-00EE-3352-DA80-3CAEAC9068FC}"/>
              </a:ext>
            </a:extLst>
          </p:cNvPr>
          <p:cNvSpPr txBox="1">
            <a:spLocks/>
          </p:cNvSpPr>
          <p:nvPr/>
        </p:nvSpPr>
        <p:spPr>
          <a:xfrm>
            <a:off x="383175" y="1513907"/>
            <a:ext cx="10857480" cy="3669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C00000"/>
                </a:solidFill>
                <a:latin typeface="Montserrat Black" panose="00000A00000000000000" pitchFamily="50" charset="0"/>
                <a:ea typeface="+mj-ea"/>
                <a:cs typeface="+mj-cs"/>
              </a:defRPr>
            </a:lvl1pPr>
          </a:lstStyle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vi-VN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35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Trân trọng cảm ơn!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2E27E2-F665-40D1-8A15-722CD75E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" y="0"/>
            <a:ext cx="748594" cy="86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17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11D965E7-D29C-4338-BF51-882690D79B0F}"/>
  <p:tag name="ISPRING_RESOURCE_FOLDER" val="C:\Users\Phanh\Desktop\Slide HV\"/>
  <p:tag name="ISPRING_PRESENTATION_PATH" val="C:\Users\Phanh\Desktop\Slide HV.pptx"/>
  <p:tag name="ISPRING_PROJECT_VERSION" val="9.3"/>
  <p:tag name="ISPRING_PROJECT_FOLDER_UPDATED" val="1"/>
  <p:tag name="ISPRING_SCREEN_RECS_UPDATED" val="C:\Users\Phanh\Desktop\Slide HV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10066</TotalTime>
  <Words>29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Calibri</vt:lpstr>
      <vt:lpstr>Arial</vt:lpstr>
      <vt:lpstr>Montserrat</vt:lpstr>
      <vt:lpstr>Montserrat Black</vt:lpstr>
      <vt:lpstr>Roboto</vt:lpstr>
      <vt:lpstr>Calibri Light</vt:lpstr>
      <vt:lpstr>Office Theme</vt:lpstr>
      <vt:lpstr>Custom Design</vt:lpstr>
      <vt:lpstr>PowerPoint Presentation</vt:lpstr>
      <vt:lpstr>Nội dung</vt:lpstr>
      <vt:lpstr>Trân trọng cảm ơn!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Phanh</dc:creator>
  <cp:lastModifiedBy>Hùng Nguyễn</cp:lastModifiedBy>
  <cp:revision>107</cp:revision>
  <dcterms:created xsi:type="dcterms:W3CDTF">2024-10-10T09:46:29Z</dcterms:created>
  <dcterms:modified xsi:type="dcterms:W3CDTF">2026-01-05T14:09:55Z</dcterms:modified>
</cp:coreProperties>
</file>